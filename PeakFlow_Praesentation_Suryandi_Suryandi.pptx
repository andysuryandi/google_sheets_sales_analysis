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7Th91ZLuGKqxKfN4n7ZwHunNe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Umsatz</c:v>
          </c:tx>
          <c:spPr>
            <a:ln xmlns:a="http://schemas.openxmlformats.org/drawingml/2006/main" w="38100">
              <a:solidFill>
                <a:srgbClr val="1677C8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677C8"/>
              </a:solidFill>
            </c:spPr>
          </c:marker>
          <c:cat>
            <c:strLit>
              <c:ptCount val="3"/>
              <c:pt idx="0">
                <c:v>Januar</c:v>
              </c:pt>
              <c:pt idx="1">
                <c:v>Februar</c:v>
              </c:pt>
              <c:pt idx="2">
                <c:v>März</c:v>
              </c:pt>
            </c:strLit>
          </c:cat>
          <c:val>
            <c:numLit>
              <c:formatCode>$0," Tsd."</c:formatCode>
              <c:ptCount val="3"/>
              <c:pt idx="0">
                <c:v>186600.12</c:v>
              </c:pt>
              <c:pt idx="1">
                <c:v>85430.35</c:v>
              </c:pt>
              <c:pt idx="2">
                <c:v>92604.08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5324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7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584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7F0"/>
              </a:solidFill>
              <a:prstDash val="solid"/>
            </a:ln>
          </c:spPr>
        </c:majorGridlines>
        <c:numFmt formatCode="$0,&quot; Tsd.&quot;"/>
        <c:majorTickMark val="none"/>
        <c:minorTickMark val="none"/>
        <c:spPr>
          <a:ln xmlns:a="http://schemas.openxmlformats.org/drawingml/2006/main" w="9525">
            <a:solidFill>
              <a:srgbClr val="D8E7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584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647398" y="731825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25">
                <a:solidFill>
                  <a:srgbClr val="1677C8"/>
                </a:solidFill>
              </a:rPr>
              <a:t>GOOGLE SHEETS ABSCHLUSSPROJEKT</a:t>
            </a:r>
            <a:endParaRPr>
              <a:solidFill>
                <a:srgbClr val="1677C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1677C8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05152" y="1355195"/>
            <a:ext cx="295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</a:rPr>
              <a:t>Q1 2025</a:t>
            </a:r>
            <a:endParaRPr sz="1900"/>
          </a:p>
        </p:txBody>
      </p:sp>
      <p:sp>
        <p:nvSpPr>
          <p:cNvPr id="19" name="Google Shape;19;p1"/>
          <p:cNvSpPr/>
          <p:nvPr/>
        </p:nvSpPr>
        <p:spPr>
          <a:xfrm>
            <a:off x="608542" y="1047094"/>
            <a:ext cx="29529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</a:rPr>
              <a:t>Umsatzentwicklung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66750" y="4832667"/>
            <a:ext cx="295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DF2FF"/>
                </a:solidFill>
              </a:rPr>
              <a:t>Live-Präsentation · 5 Minuten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42344" y="6086848"/>
            <a:ext cx="276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Suryandi Suryandi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33133" y="4786613"/>
            <a:ext cx="53343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1677C8"/>
                </a:solidFill>
              </a:rPr>
              <a:t>Analyse für Vertriebsleiter Diego Vargas</a:t>
            </a:r>
            <a:endParaRPr b="1" sz="1800">
              <a:solidFill>
                <a:srgbClr val="1677C8"/>
              </a:solidFill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123137" y="5225182"/>
            <a:ext cx="56199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472C4"/>
                </a:solidFill>
              </a:rPr>
              <a:t>Data-</a:t>
            </a:r>
            <a:r>
              <a:rPr b="1" lang="en-US" sz="1350">
                <a:solidFill>
                  <a:srgbClr val="4472C4"/>
                </a:solidFill>
              </a:rPr>
              <a:t>Bereinigung </a:t>
            </a:r>
            <a:endParaRPr b="1" sz="1350">
              <a:solidFill>
                <a:srgbClr val="4472C4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472C4"/>
                </a:solidFill>
              </a:rPr>
              <a:t>Umsatz nach Verkäufer, Region und Produkt</a:t>
            </a:r>
            <a:r>
              <a:rPr b="1" lang="en-US" sz="1350">
                <a:solidFill>
                  <a:srgbClr val="4472C4"/>
                </a:solidFill>
              </a:rPr>
              <a:t> </a:t>
            </a:r>
            <a:endParaRPr b="1" sz="1350">
              <a:solidFill>
                <a:srgbClr val="4472C4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472C4"/>
                </a:solidFill>
              </a:rPr>
              <a:t>fünf Diagramme</a:t>
            </a:r>
            <a:endParaRPr b="1" sz="1100">
              <a:solidFill>
                <a:srgbClr val="4472C4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58615" y="6299415"/>
            <a:ext cx="3048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chemeClr val="lt1"/>
                </a:solidFill>
              </a:rPr>
              <a:t>PeakFlow · Q1 2025 - Google Sheets</a:t>
            </a:r>
            <a:endParaRPr sz="825">
              <a:solidFill>
                <a:schemeClr val="lt1"/>
              </a:solidFill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049000" y="6486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07584"/>
                </a:solidFill>
              </a:rPr>
              <a:t>01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24820" y="875087"/>
            <a:ext cx="2667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PEAKFLOW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66750" y="35242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77C8"/>
                </a:solidFill>
              </a:rPr>
              <a:t>30 SEKUNDEN · BEREINIGUNG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66750" y="66675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5324A"/>
                </a:solidFill>
              </a:rPr>
              <a:t>Data-Bereinigung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 flipH="1" rot="10800000">
            <a:off x="666750" y="1184922"/>
            <a:ext cx="10980300" cy="456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66750" y="2129397"/>
            <a:ext cx="2476500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66750" y="2129397"/>
            <a:ext cx="57300" cy="10287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57250" y="2291322"/>
            <a:ext cx="21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254 → 250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57250" y="2777097"/>
            <a:ext cx="2143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Zeilen nach Bereinigung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333750" y="2129397"/>
            <a:ext cx="2857500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333750" y="2129397"/>
            <a:ext cx="57300" cy="1028700"/>
          </a:xfrm>
          <a:prstGeom prst="rect">
            <a:avLst/>
          </a:prstGeom>
          <a:solidFill>
            <a:srgbClr val="55B7E8"/>
          </a:solidFill>
          <a:ln cap="flat" cmpd="sng" w="9525">
            <a:solidFill>
              <a:srgbClr val="55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524250" y="2291322"/>
            <a:ext cx="25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364.634,55 $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24250" y="2777097"/>
            <a:ext cx="2524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Gesamtumsatz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381750" y="2129397"/>
            <a:ext cx="2381400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381750" y="2129397"/>
            <a:ext cx="57300" cy="1028700"/>
          </a:xfrm>
          <a:prstGeom prst="rect">
            <a:avLst/>
          </a:prstGeom>
          <a:solidFill>
            <a:srgbClr val="35A878"/>
          </a:solidFill>
          <a:ln cap="flat" cmpd="sng" w="9525">
            <a:solidFill>
              <a:srgbClr val="35A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572250" y="2291322"/>
            <a:ext cx="20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1.458,54 $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72250" y="2777097"/>
            <a:ext cx="2047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Durchschnitt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953500" y="2129397"/>
            <a:ext cx="2571900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953500" y="2129397"/>
            <a:ext cx="57300" cy="1028700"/>
          </a:xfrm>
          <a:prstGeom prst="rect">
            <a:avLst/>
          </a:prstGeom>
          <a:solidFill>
            <a:srgbClr val="F1A94E"/>
          </a:solidFill>
          <a:ln cap="flat" cmpd="sng" w="9525">
            <a:solidFill>
              <a:srgbClr val="F1A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9144000" y="2291322"/>
            <a:ext cx="223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386,76 $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144000" y="2777097"/>
            <a:ext cx="22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Median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66750" y="3824237"/>
            <a:ext cx="33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77C8"/>
                </a:solidFill>
              </a:rPr>
              <a:t>✓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066800" y="3824237"/>
            <a:ext cx="180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2 Testzeilen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905125" y="3824237"/>
            <a:ext cx="285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07584"/>
                </a:solidFill>
              </a:rPr>
              <a:t>D-TEST entfernt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96000" y="3824237"/>
            <a:ext cx="33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77C8"/>
                </a:solidFill>
              </a:rPr>
              <a:t>✓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496050" y="3824237"/>
            <a:ext cx="180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2 Duplikate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334375" y="3824237"/>
            <a:ext cx="285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07584"/>
                </a:solidFill>
              </a:rPr>
              <a:t>vollständig entfernt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66750" y="4238625"/>
            <a:ext cx="33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77C8"/>
                </a:solidFill>
              </a:rPr>
              <a:t>✓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066800" y="4238625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Textfelder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2905125" y="4238625"/>
            <a:ext cx="285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07584"/>
                </a:solidFill>
              </a:rPr>
              <a:t>Namen, Regionen und Kategorien vereinheitlicht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096000" y="4238625"/>
            <a:ext cx="333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77C8"/>
                </a:solidFill>
              </a:rPr>
              <a:t>✓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496050" y="4238625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Umsatz</a:t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334375" y="4238625"/>
            <a:ext cx="285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07584"/>
                </a:solidFill>
              </a:rPr>
              <a:t>Textwerte in echte Zahlen umgewandelt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66750" y="5572125"/>
            <a:ext cx="104775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7313F"/>
                </a:solidFill>
              </a:rPr>
              <a:t>Der Durchschnitt ist fast viermal so hoch wie der Median. Das heißt, die meisten Deals sind klein, während wenige große Deals den Durchschnitt erhöhen. </a:t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66750" y="648652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PeakFlow · Q1 2025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1049000" y="6486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07584"/>
                </a:solidFill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666750" y="35242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77C8"/>
                </a:solidFill>
              </a:rPr>
              <a:t>2 MINUTEN · ÜBERBLICK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66750" y="66675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600">
                <a:solidFill>
                  <a:srgbClr val="17313F"/>
                </a:solidFill>
              </a:rPr>
              <a:t>Umsatz nach Verkäufer, Region und Produkt</a:t>
            </a:r>
            <a:endParaRPr sz="2600">
              <a:solidFill>
                <a:srgbClr val="17313F"/>
              </a:solidFill>
            </a:endParaRPr>
          </a:p>
        </p:txBody>
      </p:sp>
      <p:sp>
        <p:nvSpPr>
          <p:cNvPr id="73" name="Google Shape;73;p3"/>
          <p:cNvSpPr/>
          <p:nvPr/>
        </p:nvSpPr>
        <p:spPr>
          <a:xfrm flipH="1" rot="10800000">
            <a:off x="666750" y="1211853"/>
            <a:ext cx="11061600" cy="714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66750" y="1714500"/>
            <a:ext cx="3286125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66750" y="1714500"/>
            <a:ext cx="57150" cy="1028700"/>
          </a:xfrm>
          <a:prstGeom prst="rect">
            <a:avLst/>
          </a:prstGeom>
          <a:solidFill>
            <a:srgbClr val="35A878"/>
          </a:solidFill>
          <a:ln cap="flat" cmpd="sng" w="9525">
            <a:solidFill>
              <a:srgbClr val="35A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57250" y="1900831"/>
            <a:ext cx="29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Marcus Johnson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7250" y="2305253"/>
            <a:ext cx="295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37 Deals · 78.951,97 $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143375" y="1714500"/>
            <a:ext cx="3286125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43375" y="1714500"/>
            <a:ext cx="57150" cy="1028700"/>
          </a:xfrm>
          <a:prstGeom prst="rect">
            <a:avLst/>
          </a:prstGeom>
          <a:solidFill>
            <a:srgbClr val="55B7E8"/>
          </a:solidFill>
          <a:ln cap="flat" cmpd="sng" w="9525">
            <a:solidFill>
              <a:srgbClr val="55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333875" y="1900831"/>
            <a:ext cx="29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Nina Petrov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333875" y="2305253"/>
            <a:ext cx="2952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Ø Deal 2.944,31 $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620000" y="1714500"/>
            <a:ext cx="3905250" cy="10287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7620000" y="1714500"/>
            <a:ext cx="57150" cy="1028700"/>
          </a:xfrm>
          <a:prstGeom prst="rect">
            <a:avLst/>
          </a:prstGeom>
          <a:solidFill>
            <a:srgbClr val="F1A94E"/>
          </a:solidFill>
          <a:ln cap="flat" cmpd="sng" w="9525">
            <a:solidFill>
              <a:srgbClr val="F1A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810500" y="1900831"/>
            <a:ext cx="357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5324A"/>
                </a:solidFill>
              </a:rPr>
              <a:t>Priya Patel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810500" y="2305253"/>
            <a:ext cx="3571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07584"/>
                </a:solidFill>
              </a:rPr>
              <a:t>niedrigster Umsatz: 10.309,60 $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66750" y="3095625"/>
            <a:ext cx="5238750" cy="24765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952500" y="33528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5324A"/>
                </a:solidFill>
              </a:rPr>
              <a:t>Woher stammt der Umsatz?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952500" y="39052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313F"/>
                </a:solidFill>
              </a:rPr>
              <a:t>APAC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809875" y="3905250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24A"/>
                </a:solidFill>
              </a:rPr>
              <a:t>120.025 $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572000" y="39052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32,9 %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52500" y="42672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313F"/>
                </a:solidFill>
              </a:rPr>
              <a:t>LATAM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809875" y="4267200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24A"/>
                </a:solidFill>
              </a:rPr>
              <a:t>93.875 $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572000" y="426720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25,7 %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52500" y="462915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313F"/>
                </a:solidFill>
              </a:rPr>
              <a:t>EMEA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809875" y="4629150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24A"/>
                </a:solidFill>
              </a:rPr>
              <a:t>78.149 $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2000" y="46291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21,4 %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952500" y="49911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7313F"/>
                </a:solidFill>
              </a:rPr>
              <a:t>North America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809875" y="4991100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24A"/>
                </a:solidFill>
              </a:rPr>
              <a:t>72.585 $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572000" y="499110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19,9 %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191250" y="3095625"/>
            <a:ext cx="5334000" cy="2476500"/>
          </a:xfrm>
          <a:prstGeom prst="roundRect">
            <a:avLst>
              <a:gd fmla="val 4615" name="adj"/>
            </a:avLst>
          </a:prstGeom>
          <a:solidFill>
            <a:srgbClr val="EAF5FC"/>
          </a:solidFill>
          <a:ln cap="flat" cmpd="sng" w="9525">
            <a:solidFill>
              <a:srgbClr val="EAF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477000" y="33528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5324A"/>
                </a:solidFill>
              </a:rPr>
              <a:t>Produktkategorie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477000" y="3943350"/>
            <a:ext cx="3238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77C8"/>
                </a:solidFill>
              </a:rPr>
              <a:t>Enterprise Plan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477000" y="4320587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7313F"/>
                </a:solidFill>
              </a:rPr>
              <a:t>170.914,03 $ · 46,9 % des Gesamtumsatzes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77000" y="495300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07584"/>
                </a:solidFill>
              </a:rPr>
              <a:t>Nur 23 von 250 Deals erzeugen fast die Hälfte des Umsatzes.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66750" y="648652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PeakFlow · Q1 2025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1049000" y="6486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07584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666750" y="35242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77C8"/>
                </a:solidFill>
              </a:rPr>
              <a:t>2 MINUTEN · DIAGRAMME 1–2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66750" y="66675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5324A"/>
                </a:solidFill>
              </a:rPr>
              <a:t>Monat &amp; Verkäufer Performance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 flipH="1" rot="10800000">
            <a:off x="666750" y="1273299"/>
            <a:ext cx="11053500" cy="693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66750" y="1666875"/>
            <a:ext cx="523875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04875" y="185737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Der Umsatz fällt nach einem starken Januar</a:t>
            </a:r>
            <a:endParaRPr/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904875" y="2333625"/>
          <a:ext cx="4762500" cy="271462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8" name="Google Shape;118;p4"/>
          <p:cNvSpPr/>
          <p:nvPr/>
        </p:nvSpPr>
        <p:spPr>
          <a:xfrm>
            <a:off x="904875" y="5191125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März erholt sich leicht, bleibt aber rund 50 % unter Januar.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191250" y="1666875"/>
            <a:ext cx="5334000" cy="409590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29375" y="185737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Marcus Johnson erzielt den höchsten Umsatz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429375" y="5191125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Höchster Umsatz: 78.951,97 $; niedrigster: 10.309,60 $.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66750" y="648652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PeakFlow · Q1 2025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1049000" y="6486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07584"/>
                </a:solidFill>
              </a:rPr>
              <a:t>04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429375" y="2370050"/>
            <a:ext cx="4989900" cy="269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762875" y="2581275"/>
            <a:ext cx="9600" cy="2085900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505700" y="467677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0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8429625" y="2581275"/>
            <a:ext cx="9600" cy="2085900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172450" y="467677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20 Tsd.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096375" y="2581275"/>
            <a:ext cx="9600" cy="2085900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839200" y="467677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40 Tsd.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763125" y="2581275"/>
            <a:ext cx="9600" cy="2085900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505950" y="467677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60 Tsd.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0429875" y="2581275"/>
            <a:ext cx="9600" cy="2085900"/>
          </a:xfrm>
          <a:prstGeom prst="rect">
            <a:avLst/>
          </a:prstGeom>
          <a:solidFill>
            <a:srgbClr val="D9E2F3"/>
          </a:solidFill>
          <a:ln cap="flat" cmpd="sng" w="9525">
            <a:solidFill>
              <a:srgbClr val="D9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172700" y="467677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80 Tsd.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24625" y="260985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Marcus Johnson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762875" y="2628900"/>
            <a:ext cx="26322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524625" y="277368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Nina Petrov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762875" y="2792730"/>
            <a:ext cx="21594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524625" y="293751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David Kim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762875" y="2956560"/>
            <a:ext cx="13686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524625" y="310134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Aisha Hassan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762875" y="3120390"/>
            <a:ext cx="11292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524625" y="326517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Carlos Mendez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762875" y="3284220"/>
            <a:ext cx="8238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24625" y="342900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Hannah Lee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7762875" y="3448050"/>
            <a:ext cx="7512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524625" y="359283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Raj Sharma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762875" y="3611880"/>
            <a:ext cx="7473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6524625" y="375666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Elena Rossi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762875" y="3775710"/>
            <a:ext cx="6747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524625" y="392049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Tom Wilson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762875" y="3939540"/>
            <a:ext cx="5136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524625" y="408432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James Park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762875" y="4103370"/>
            <a:ext cx="5067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524625" y="424815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Sophie Laurent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762875" y="4267200"/>
            <a:ext cx="5061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524625" y="4411980"/>
            <a:ext cx="1095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07584"/>
                </a:solidFill>
              </a:rPr>
              <a:t>Priya Patel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762875" y="4431030"/>
            <a:ext cx="343800" cy="104700"/>
          </a:xfrm>
          <a:prstGeom prst="rect">
            <a:avLst/>
          </a:prstGeom>
          <a:solidFill>
            <a:srgbClr val="4472C4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572500" y="4857750"/>
            <a:ext cx="1571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Gesamtumsatz in USD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666750" y="35242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77C8"/>
                </a:solidFill>
              </a:rPr>
              <a:t>DIAGRAMME 3–4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66750" y="66675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5324A"/>
                </a:solidFill>
              </a:rPr>
              <a:t>Transaktion &amp; Unit - Unit Preis Korrelation</a:t>
            </a:r>
            <a:endParaRPr sz="2400"/>
          </a:p>
        </p:txBody>
      </p:sp>
      <p:sp>
        <p:nvSpPr>
          <p:cNvPr id="167" name="Google Shape;167;p5"/>
          <p:cNvSpPr/>
          <p:nvPr/>
        </p:nvSpPr>
        <p:spPr>
          <a:xfrm flipH="1" rot="10800000">
            <a:off x="666750" y="1236899"/>
            <a:ext cx="11012700" cy="8280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66750" y="1666875"/>
            <a:ext cx="5238900" cy="409590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904875" y="1857375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5324A"/>
                </a:solidFill>
              </a:rPr>
              <a:t>Die Deal-Größen sind deutlich rechtsschief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381125" y="4762500"/>
            <a:ext cx="3905250" cy="9525"/>
          </a:xfrm>
          <a:prstGeom prst="rect">
            <a:avLst/>
          </a:prstGeom>
          <a:solidFill>
            <a:srgbClr val="D8E7F0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00125" y="4676775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0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381125" y="4077891"/>
            <a:ext cx="3905250" cy="9525"/>
          </a:xfrm>
          <a:prstGeom prst="rect">
            <a:avLst/>
          </a:prstGeom>
          <a:solidFill>
            <a:srgbClr val="D8E7F0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000125" y="3992166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50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381125" y="3393281"/>
            <a:ext cx="3905250" cy="9525"/>
          </a:xfrm>
          <a:prstGeom prst="rect">
            <a:avLst/>
          </a:prstGeom>
          <a:solidFill>
            <a:srgbClr val="D8E7F0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000125" y="3307556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100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381125" y="2708672"/>
            <a:ext cx="3905250" cy="9525"/>
          </a:xfrm>
          <a:prstGeom prst="rect">
            <a:avLst/>
          </a:prstGeom>
          <a:solidFill>
            <a:srgbClr val="D8E7F0"/>
          </a:solidFill>
          <a:ln cap="flat" cmpd="sng" w="9525">
            <a:solidFill>
              <a:srgbClr val="D8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000125" y="2622947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150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552575" y="2694980"/>
            <a:ext cx="552450" cy="2067520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1552575" y="2485430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324A"/>
                </a:solidFill>
              </a:rPr>
              <a:t>151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476375" y="48387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&lt; 500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2295525" y="4283273"/>
            <a:ext cx="552450" cy="479227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295525" y="4073723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324A"/>
                </a:solidFill>
              </a:rPr>
              <a:t>35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2219325" y="48387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500–999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038475" y="4214813"/>
            <a:ext cx="552450" cy="547688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038475" y="4005263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324A"/>
                </a:solidFill>
              </a:rPr>
              <a:t>40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2962275" y="48387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1.000–2.499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3781425" y="4611886"/>
            <a:ext cx="552450" cy="150614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3781425" y="4402336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324A"/>
                </a:solidFill>
              </a:rPr>
              <a:t>11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705225" y="48387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2.500–4.999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4524375" y="4584502"/>
            <a:ext cx="552450" cy="177998"/>
          </a:xfrm>
          <a:prstGeom prst="rect">
            <a:avLst/>
          </a:prstGeom>
          <a:solidFill>
            <a:srgbClr val="1677C8"/>
          </a:solidFill>
          <a:ln cap="flat" cmpd="sng" w="9525">
            <a:solidFill>
              <a:srgbClr val="167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524375" y="4374952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5324A"/>
                </a:solidFill>
              </a:rPr>
              <a:t>13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4448175" y="48387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07584"/>
                </a:solidFill>
              </a:rPr>
              <a:t>≥ 5.000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04875" y="51911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584"/>
                </a:solidFill>
              </a:rPr>
              <a:t>151 von 250 Deals liegen unter 500 $; wenige Großdeals ziehen den Mittelwert hoch.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66750" y="6486525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607584"/>
                </a:solidFill>
              </a:rPr>
              <a:t>PeakFlow · Q1 2025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1049000" y="6486525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07584"/>
                </a:solidFill>
              </a:rPr>
              <a:t>05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6010275" y="5815850"/>
            <a:ext cx="57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07584"/>
                </a:solidFill>
              </a:rPr>
              <a:t>Korrelation r = -0,03: praktisch kein linearer Zusammenhang.</a:t>
            </a:r>
            <a:endParaRPr/>
          </a:p>
        </p:txBody>
      </p:sp>
      <p:pic>
        <p:nvPicPr>
          <p:cNvPr id="197" name="Google Shape;197;p5" title="Screenshot 2026-09-08 1510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275" y="1495425"/>
            <a:ext cx="6043601" cy="42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6016237" y="6068414"/>
            <a:ext cx="57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07584"/>
                </a:solidFill>
              </a:rPr>
              <a:t>aber wenn mann den Enterprise Plan und den Business Plan anguckt?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666750" y="361950"/>
            <a:ext cx="571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5B7E8"/>
                </a:solidFill>
              </a:rPr>
              <a:t>DIAGRAMM 5 · 30 SEKUNDEN &amp; FRAGEN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5">
                <a:solidFill>
                  <a:srgbClr val="FFFFFF"/>
                </a:solidFill>
              </a:rPr>
              <a:t>Lukas Becker zeigt die größte Spannweite der Deal-Größen</a:t>
            </a:r>
            <a:endParaRPr sz="600"/>
          </a:p>
        </p:txBody>
      </p:sp>
      <p:sp>
        <p:nvSpPr>
          <p:cNvPr id="206" name="Google Shape;206;p6"/>
          <p:cNvSpPr/>
          <p:nvPr/>
        </p:nvSpPr>
        <p:spPr>
          <a:xfrm>
            <a:off x="4619625" y="6153150"/>
            <a:ext cx="285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55B7E8"/>
                </a:solidFill>
              </a:rPr>
              <a:t>Fragen?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66750" y="651510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8FA8B8"/>
                </a:solidFill>
              </a:rPr>
              <a:t>PeakFlow · Q1 2025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11049000" y="65151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8FA8B8"/>
                </a:solidFill>
              </a:rPr>
              <a:t>06</a:t>
            </a:r>
            <a:endParaRPr/>
          </a:p>
        </p:txBody>
      </p:sp>
      <p:pic>
        <p:nvPicPr>
          <p:cNvPr id="209" name="Google Shape;209;p6" title="Screenshot 2026-09-08 195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250" y="1431325"/>
            <a:ext cx="732749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